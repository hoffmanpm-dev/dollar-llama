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0" y="1333500"/>
            <a:ext cx="1714500" cy="17676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500" y="4095750"/>
            <a:ext cx="8381999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0" i="0">
                <a:solidFill>
                  <a:srgbClr val="FAF8F3"/>
                </a:solidFill>
                <a:latin typeface="Georgia"/>
              </a:rPr>
              <a:t>Most people don't need</a:t>
            </a:r>
          </a:p>
          <a:p>
            <a:pPr algn="ctr">
              <a:lnSpc>
                <a:spcPct val="115000"/>
              </a:lnSpc>
            </a:pPr>
            <a:r>
              <a:rPr sz="4200" b="0" i="0">
                <a:solidFill>
                  <a:srgbClr val="FAF8F3"/>
                </a:solidFill>
                <a:latin typeface="Georgia"/>
              </a:rPr>
              <a:t>a family office.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7250" y="6096000"/>
            <a:ext cx="952500" cy="28575"/>
          </a:xfrm>
          <a:prstGeom prst="rect">
            <a:avLst/>
          </a:prstGeom>
          <a:solidFill>
            <a:srgbClr val="C9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500" y="6572250"/>
            <a:ext cx="8381999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300" b="0" i="0">
                <a:solidFill>
                  <a:srgbClr val="E4C57A"/>
                </a:solidFill>
                <a:latin typeface="Georgia"/>
              </a:rPr>
              <a:t>But everyone could benefit</a:t>
            </a:r>
          </a:p>
          <a:p>
            <a:pPr algn="ctr">
              <a:lnSpc>
                <a:spcPct val="115000"/>
              </a:lnSpc>
            </a:pPr>
            <a:r>
              <a:rPr sz="3300" b="0" i="0">
                <a:solidFill>
                  <a:srgbClr val="E4C57A"/>
                </a:solidFill>
                <a:latin typeface="Georgia"/>
              </a:rPr>
              <a:t>from thinking like one.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85750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b="1" i="0" spc="500">
                <a:solidFill>
                  <a:srgbClr val="C9A24E"/>
                </a:solidFill>
                <a:latin typeface="Arial"/>
              </a:rPr>
              <a:t>WHY DOLLAR LLAMA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3810000"/>
            <a:ext cx="838199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0" i="0">
                <a:solidFill>
                  <a:srgbClr val="333333"/>
                </a:solidFill>
                <a:latin typeface="Georgia"/>
              </a:rPr>
              <a:t>A problem nobody in my industry</a:t>
            </a:r>
          </a:p>
          <a:p>
            <a:pPr algn="ctr">
              <a:lnSpc>
                <a:spcPct val="115000"/>
              </a:lnSpc>
            </a:pPr>
            <a:r>
              <a:rPr sz="4200" b="0" i="0">
                <a:solidFill>
                  <a:srgbClr val="333333"/>
                </a:solidFill>
                <a:latin typeface="Georgia"/>
              </a:rPr>
              <a:t>likes to talk about.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38250"/>
            <a:ext cx="102870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0" b="0" i="1">
                <a:solidFill>
                  <a:srgbClr val="C9A24E"/>
                </a:solidFill>
                <a:latin typeface="Georgia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1000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b="1" i="0" spc="500">
                <a:solidFill>
                  <a:srgbClr val="C9A24E"/>
                </a:solidFill>
                <a:latin typeface="Arial"/>
              </a:rPr>
              <a:t>YEARS INSIDE FAMILY OFFICES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4762500"/>
            <a:ext cx="8381999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775" b="0" i="0">
                <a:solidFill>
                  <a:srgbClr val="333333"/>
                </a:solidFill>
                <a:latin typeface="Georgia"/>
              </a:rPr>
              <a:t>Where clients get the best advice money can buy.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6286500"/>
            <a:ext cx="838199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300" b="0" i="0">
                <a:solidFill>
                  <a:srgbClr val="2D5016"/>
                </a:solidFill>
                <a:latin typeface="Georgia"/>
              </a:rPr>
              <a:t>Independent.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7048500"/>
            <a:ext cx="838199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300" b="0" i="0">
                <a:solidFill>
                  <a:srgbClr val="2D5016"/>
                </a:solidFill>
                <a:latin typeface="Georgia"/>
              </a:rPr>
              <a:t>Built around their actual lives.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7810499"/>
            <a:ext cx="838199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300" b="0" i="0">
                <a:solidFill>
                  <a:srgbClr val="2D5016"/>
                </a:solidFill>
                <a:latin typeface="Georgia"/>
              </a:rPr>
              <a:t>Nobody in the room selling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3143250"/>
            <a:ext cx="8381999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0" i="0">
                <a:solidFill>
                  <a:srgbClr val="333333"/>
                </a:solidFill>
                <a:latin typeface="Georgia"/>
              </a:rPr>
              <a:t>They can afford it.</a:t>
            </a:r>
          </a:p>
          <a:p>
            <a:pPr algn="ctr">
              <a:lnSpc>
                <a:spcPct val="115000"/>
              </a:lnSpc>
            </a:pPr>
            <a:r>
              <a:rPr sz="4200" b="0" i="0">
                <a:solidFill>
                  <a:srgbClr val="333333"/>
                </a:solidFill>
                <a:latin typeface="Georgia"/>
              </a:rPr>
              <a:t>They need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4953000"/>
            <a:ext cx="838199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550" b="0" i="0">
                <a:solidFill>
                  <a:srgbClr val="666666"/>
                </a:solidFill>
                <a:latin typeface="Georgia"/>
              </a:rPr>
              <a:t>Complicated enough to justify the cost.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7250" y="5715000"/>
            <a:ext cx="952500" cy="28575"/>
          </a:xfrm>
          <a:prstGeom prst="rect">
            <a:avLst/>
          </a:prstGeom>
          <a:solidFill>
            <a:srgbClr val="C9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500" y="6096000"/>
            <a:ext cx="8381999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300" b="0" i="0">
                <a:solidFill>
                  <a:srgbClr val="2D5016"/>
                </a:solidFill>
                <a:latin typeface="Georgia"/>
              </a:rPr>
              <a:t>Most people don't have that option.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42875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b="1" i="0" spc="500">
                <a:solidFill>
                  <a:srgbClr val="C9A24E"/>
                </a:solidFill>
                <a:latin typeface="Arial"/>
              </a:rPr>
              <a:t>WHAT THE INDUSTRY CAN SELL AT SCALE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43000" y="2857500"/>
            <a:ext cx="3810000" cy="914400"/>
          </a:xfrm>
          <a:prstGeom prst="roundRect">
            <a:avLst/>
          </a:prstGeom>
          <a:noFill/>
          <a:ln w="15875">
            <a:solidFill>
              <a:srgbClr val="E4C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31623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50" b="0" i="0" spc="100">
                <a:solidFill>
                  <a:srgbClr val="FAF8F3"/>
                </a:solidFill>
                <a:latin typeface="Arial"/>
              </a:rPr>
              <a:t>Mutual funds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4000" y="2857500"/>
            <a:ext cx="3810000" cy="914400"/>
          </a:xfrm>
          <a:prstGeom prst="roundRect">
            <a:avLst/>
          </a:prstGeom>
          <a:noFill/>
          <a:ln w="15875">
            <a:solidFill>
              <a:srgbClr val="E4C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0" y="31623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50" b="0" i="0" spc="100">
                <a:solidFill>
                  <a:srgbClr val="FAF8F3"/>
                </a:solidFill>
                <a:latin typeface="Arial"/>
              </a:rPr>
              <a:t>Annuities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4000500"/>
            <a:ext cx="3810000" cy="914400"/>
          </a:xfrm>
          <a:prstGeom prst="roundRect">
            <a:avLst/>
          </a:prstGeom>
          <a:noFill/>
          <a:ln w="15875">
            <a:solidFill>
              <a:srgbClr val="E4C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3053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50" b="0" i="0" spc="100">
                <a:solidFill>
                  <a:srgbClr val="FAF8F3"/>
                </a:solidFill>
                <a:latin typeface="Arial"/>
              </a:rPr>
              <a:t>Insurance products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4000" y="4000500"/>
            <a:ext cx="3810000" cy="914400"/>
          </a:xfrm>
          <a:prstGeom prst="roundRect">
            <a:avLst/>
          </a:prstGeom>
          <a:noFill/>
          <a:ln w="15875">
            <a:solidFill>
              <a:srgbClr val="E4C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34000" y="43053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50" b="0" i="0" spc="100">
                <a:solidFill>
                  <a:srgbClr val="FAF8F3"/>
                </a:solidFill>
                <a:latin typeface="Arial"/>
              </a:rPr>
              <a:t>A robo account with a nice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6096000"/>
            <a:ext cx="8381999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775" b="0" i="0">
                <a:solidFill>
                  <a:srgbClr val="FAF8F3"/>
                </a:solidFill>
                <a:latin typeface="Georgia"/>
              </a:rPr>
              <a:t>Built to reach a million people at once.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7334250"/>
            <a:ext cx="8381999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300" b="0" i="0">
                <a:solidFill>
                  <a:srgbClr val="E4C57A"/>
                </a:solidFill>
                <a:latin typeface="Georgia"/>
              </a:rPr>
              <a:t>Not because they're the right answer for you.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1238250"/>
            <a:ext cx="8381999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0" i="0">
                <a:solidFill>
                  <a:srgbClr val="2D5016"/>
                </a:solidFill>
                <a:latin typeface="Georgia"/>
              </a:rPr>
              <a:t>The thinking isn't expensive.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3143250"/>
            <a:ext cx="838199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775" b="0" i="0">
                <a:solidFill>
                  <a:srgbClr val="333333"/>
                </a:solidFill>
                <a:latin typeface="Georgia"/>
              </a:rPr>
              <a:t>The questions to ask.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3810000"/>
            <a:ext cx="838199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775" b="0" i="0">
                <a:solidFill>
                  <a:srgbClr val="333333"/>
                </a:solidFill>
                <a:latin typeface="Georgia"/>
              </a:rPr>
              <a:t>How to size up what you're being sold.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4476750"/>
            <a:ext cx="838199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775" b="0" i="0">
                <a:solidFill>
                  <a:srgbClr val="333333"/>
                </a:solidFill>
                <a:latin typeface="Georgia"/>
              </a:rPr>
              <a:t>Start with your situation, not a product shelf.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6096000"/>
            <a:ext cx="4190999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900" b="0" i="0">
                <a:solidFill>
                  <a:srgbClr val="8E6E2A"/>
                </a:solidFill>
                <a:latin typeface="Georgia"/>
              </a:rPr>
              <a:t>$100 million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4450" y="6286500"/>
            <a:ext cx="28575" cy="666750"/>
          </a:xfrm>
          <a:prstGeom prst="rect">
            <a:avLst/>
          </a:prstGeom>
          <a:solidFill>
            <a:srgbClr val="C9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24500" y="6096000"/>
            <a:ext cx="4190999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900" b="0" i="0">
                <a:solidFill>
                  <a:srgbClr val="8E6E2A"/>
                </a:solidFill>
                <a:latin typeface="Georgia"/>
              </a:rPr>
              <a:t>$100 thousand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7429500"/>
            <a:ext cx="8381999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550" b="0" i="0">
                <a:solidFill>
                  <a:srgbClr val="666666"/>
                </a:solidFill>
                <a:latin typeface="Georgia"/>
              </a:rPr>
              <a:t>The same thinking works at either size.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8572500"/>
            <a:ext cx="838199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775" b="0" i="0">
                <a:solidFill>
                  <a:srgbClr val="2D5016"/>
                </a:solidFill>
                <a:latin typeface="Georgia"/>
              </a:rPr>
              <a:t>That's what Dollar Llama is for.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71450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b="1" i="0" spc="500">
                <a:solidFill>
                  <a:srgbClr val="C9A24E"/>
                </a:solidFill>
                <a:latin typeface="Arial"/>
              </a:rPr>
              <a:t>WHAT YOU'LL FIND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57250" y="2857500"/>
            <a:ext cx="2667000" cy="285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05000" y="3619500"/>
            <a:ext cx="571500" cy="28575"/>
          </a:xfrm>
          <a:prstGeom prst="rect">
            <a:avLst/>
          </a:prstGeom>
          <a:solidFill>
            <a:srgbClr val="C9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7749" y="4381500"/>
            <a:ext cx="2286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333333"/>
                </a:solidFill>
                <a:latin typeface="Georgia"/>
              </a:rPr>
              <a:t>Investment strategy</a:t>
            </a:r>
          </a:p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333333"/>
                </a:solidFill>
                <a:latin typeface="Georgia"/>
              </a:rPr>
              <a:t>without the sales pitch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0" y="2857500"/>
            <a:ext cx="2667000" cy="285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57750" y="3619500"/>
            <a:ext cx="571500" cy="28575"/>
          </a:xfrm>
          <a:prstGeom prst="rect">
            <a:avLst/>
          </a:prstGeom>
          <a:solidFill>
            <a:srgbClr val="C9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500" y="4381500"/>
            <a:ext cx="2286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333333"/>
                </a:solidFill>
                <a:latin typeface="Georgia"/>
              </a:rPr>
              <a:t>Real estate</a:t>
            </a:r>
          </a:p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333333"/>
                </a:solidFill>
                <a:latin typeface="Georgia"/>
              </a:rPr>
              <a:t>from the trenches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2750" y="2857500"/>
            <a:ext cx="2667000" cy="285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0499" y="3619500"/>
            <a:ext cx="571500" cy="28575"/>
          </a:xfrm>
          <a:prstGeom prst="rect">
            <a:avLst/>
          </a:prstGeom>
          <a:solidFill>
            <a:srgbClr val="C9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53250" y="4381500"/>
            <a:ext cx="2286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333333"/>
                </a:solidFill>
                <a:latin typeface="Georgia"/>
              </a:rPr>
              <a:t>Tax &amp; estate ideas</a:t>
            </a:r>
          </a:p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333333"/>
                </a:solidFill>
                <a:latin typeface="Georgia"/>
              </a:rPr>
              <a:t>in plain language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7749" y="2190750"/>
            <a:ext cx="3619500" cy="43815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7749" y="4190999"/>
            <a:ext cx="3619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b="0" i="0">
                <a:solidFill>
                  <a:srgbClr val="666666"/>
                </a:solidFill>
                <a:latin typeface="Arial"/>
              </a:rPr>
              <a:t>your portrait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2381250"/>
            <a:ext cx="43815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0" i="0">
                <a:solidFill>
                  <a:srgbClr val="2D5016"/>
                </a:solidFill>
                <a:latin typeface="Georgia"/>
              </a:rPr>
              <a:t>I'm not selling anything.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3810000"/>
            <a:ext cx="476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50" b="0" i="0">
                <a:solidFill>
                  <a:srgbClr val="333333"/>
                </a:solidFill>
                <a:latin typeface="Georgia"/>
              </a:rPr>
              <a:t>A finance guy.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0" y="4572000"/>
            <a:ext cx="476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50" b="0" i="0">
                <a:solidFill>
                  <a:srgbClr val="333333"/>
                </a:solidFill>
                <a:latin typeface="Georgia"/>
              </a:rPr>
              <a:t>A real estate investor.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0" y="5334000"/>
            <a:ext cx="476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50" b="0" i="0">
                <a:solidFill>
                  <a:srgbClr val="333333"/>
                </a:solidFill>
                <a:latin typeface="Georgia"/>
              </a:rPr>
              <a:t>A dad.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0" y="6286500"/>
            <a:ext cx="4381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75" b="0" i="0">
                <a:solidFill>
                  <a:srgbClr val="666666"/>
                </a:solidFill>
                <a:latin typeface="Georgia"/>
              </a:rPr>
              <a:t>Everyone deserves a straight answer about money.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0" y="1619250"/>
            <a:ext cx="2857500" cy="294608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5048250"/>
            <a:ext cx="10287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550" b="0" i="0" spc="100">
                <a:solidFill>
                  <a:srgbClr val="FAF8F3"/>
                </a:solidFill>
                <a:latin typeface="Georgia"/>
              </a:rPr>
              <a:t>Dollar Llama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19125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 spc="200">
                <a:solidFill>
                  <a:srgbClr val="D9D4C4"/>
                </a:solidFill>
                <a:latin typeface="Arial"/>
              </a:rPr>
              <a:t>No products   ·   No affiliate links   ·   No sponsored posts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7239000"/>
            <a:ext cx="10287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300" b="1" i="0" spc="200">
                <a:solidFill>
                  <a:srgbClr val="E4C57A"/>
                </a:solidFill>
                <a:latin typeface="Arial"/>
              </a:rPr>
              <a:t>dollar-llama.com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8191500"/>
            <a:ext cx="10287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0" i="1">
                <a:solidFill>
                  <a:srgbClr val="D9D4C4"/>
                </a:solidFill>
                <a:latin typeface="Georgia"/>
              </a:rPr>
              <a:t>Periodic emails, when there is something worth sharing.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